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192024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1920240"/>
            <a:ext cx="3063240" cy="109728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61320" y="1920240"/>
            <a:ext cx="1627632" cy="1097280"/>
          </a:xfrm>
          <a:prstGeom prst="rect">
            <a:avLst/>
          </a:prstGeom>
          <a:solidFill>
            <a:srgbClr val="F39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3017520"/>
            <a:ext cx="2011680" cy="384048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09760" y="3017520"/>
            <a:ext cx="2679192" cy="384048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1225296"/>
            <a:ext cx="6172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5C675F"/>
                </a:solidFill>
                <a:latin typeface="Arial"/>
              </a:rPr>
              <a:t>Курсовая работа · выступление 5–7 минут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37360"/>
            <a:ext cx="6629400" cy="1508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244128"/>
                </a:solidFill>
                <a:latin typeface="Arial"/>
              </a:rPr>
              <a:t>Топонимы Санкт-Петербурга</a:t>
            </a:r>
            <a:br/>
            <a:r>
              <a:t>в лексиконе носителя русского языка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66160"/>
            <a:ext cx="621792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Как официальные, разговорные и исторические названия распределяются между активным и пассивным запасом речи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Arial"/>
              </a:rPr>
              <a:t>Гуманитарный институт · Высшая школа лингвистики и педагогики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Arial"/>
              </a:rPr>
              <a:t>Выполнил: К.А. Шин · Руководитель: В.А. Белов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5C675F"/>
                </a:solidFill>
                <a:latin typeface="Arial"/>
              </a:rPr>
              <a:t>Санкт-Петербург,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355080"/>
            <a:ext cx="822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Актуальность и объект исследования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Введение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0:30–1:15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2/10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6537960" cy="434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783080"/>
            <a:ext cx="5760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244128"/>
                </a:solidFill>
                <a:latin typeface="Arial"/>
              </a:rPr>
              <a:t>Почему тема важна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31720"/>
            <a:ext cx="5715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AA35"/>
                </a:solidFill>
                <a:latin typeface="Arial"/>
              </a:rPr>
              <a:t>■ </a:t>
            </a:r>
            <a:r>
              <a:rPr sz="1700" b="0">
                <a:solidFill>
                  <a:srgbClr val="000000"/>
                </a:solidFill>
                <a:latin typeface="Arial"/>
              </a:rPr>
              <a:t>Санкт-Петербург воспринимается через сеть городских названий: улиц, площадей, районов, станций метро.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AA35"/>
                </a:solidFill>
                <a:latin typeface="Arial"/>
              </a:rPr>
              <a:t>■ </a:t>
            </a:r>
            <a:r>
              <a:rPr sz="1700" b="0">
                <a:solidFill>
                  <a:srgbClr val="000000"/>
                </a:solidFill>
                <a:latin typeface="Arial"/>
              </a:rPr>
              <a:t>Один объект может иметь официальное, разговорное и историческое имя.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AA35"/>
                </a:solidFill>
                <a:latin typeface="Arial"/>
              </a:rPr>
              <a:t>■ </a:t>
            </a:r>
            <a:r>
              <a:rPr sz="1700" b="0">
                <a:solidFill>
                  <a:srgbClr val="000000"/>
                </a:solidFill>
                <a:latin typeface="Arial"/>
              </a:rPr>
              <a:t>Для лингвистики важно понять, какие названия реально живут в речи, а какие остаются культурной отсылкой.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66360"/>
            <a:ext cx="5806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>
                <a:solidFill>
                  <a:srgbClr val="DB4928"/>
                </a:solidFill>
                <a:latin typeface="Arial"/>
              </a:rPr>
              <a:t>Проблемный вопрос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468112"/>
            <a:ext cx="5806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Почему одни говорят «Питер» и «Лиговка», а другие — «Санкт-Петербург» и «Лиговский проспект»?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508760"/>
            <a:ext cx="3886200" cy="434340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828800"/>
            <a:ext cx="3154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Объект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154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топонимическая лексика в речи носителей русского языка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3246120"/>
            <a:ext cx="3063240" cy="45720"/>
          </a:xfrm>
          <a:prstGeom prst="rect">
            <a:avLst/>
          </a:prstGeom>
          <a:solidFill>
            <a:srgbClr val="F39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3566160"/>
            <a:ext cx="3154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977639"/>
            <a:ext cx="31546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включение петербургских топонимов в активный и пассивный компоненты лексикона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Логика исследования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Цель, задачи и гипотеза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1:15–2:00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3/10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4892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109728" cy="105156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19072"/>
            <a:ext cx="44805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Цель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167128"/>
            <a:ext cx="4480560" cy="2651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Описать, как петербургские топонимы представлены в лексиконе современных носителей русского языка.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508760"/>
            <a:ext cx="4892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1508760"/>
            <a:ext cx="109728" cy="105156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719072"/>
            <a:ext cx="44805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Гипотеза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2167128"/>
            <a:ext cx="4480560" cy="2651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Топонимы Санкт-Петербурга образуют многослойную систему: официальные, разговорные и исторические названия распределены по разным сферам общения.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101041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246120"/>
            <a:ext cx="9418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900" b="1">
                <a:solidFill>
                  <a:srgbClr val="244128"/>
                </a:solidFill>
                <a:latin typeface="Arial"/>
              </a:rPr>
              <a:t>Основные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703320"/>
            <a:ext cx="9235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3AAA35"/>
                </a:solidFill>
                <a:latin typeface="Arial"/>
              </a:rPr>
              <a:t>■ </a:t>
            </a:r>
            <a:r>
              <a:rPr sz="1500" b="0">
                <a:solidFill>
                  <a:srgbClr val="000000"/>
                </a:solidFill>
                <a:latin typeface="Arial"/>
              </a:rPr>
              <a:t>рассмотреть подходы к изучению топонимов в отечественной лингвистике;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3AAA35"/>
                </a:solidFill>
                <a:latin typeface="Arial"/>
              </a:rPr>
              <a:t>■ </a:t>
            </a:r>
            <a:r>
              <a:rPr sz="1500" b="0">
                <a:solidFill>
                  <a:srgbClr val="000000"/>
                </a:solidFill>
                <a:latin typeface="Arial"/>
              </a:rPr>
              <a:t>обосновать методику эмпирического исследования;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3AAA35"/>
                </a:solidFill>
                <a:latin typeface="Arial"/>
              </a:rPr>
              <a:t>■ </a:t>
            </a:r>
            <a:r>
              <a:rPr sz="1500" b="0">
                <a:solidFill>
                  <a:srgbClr val="000000"/>
                </a:solidFill>
                <a:latin typeface="Arial"/>
              </a:rPr>
              <a:t>провести анкетирование и интерпретировать полученные данные;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3AAA35"/>
                </a:solidFill>
                <a:latin typeface="Arial"/>
              </a:rPr>
              <a:t>■ </a:t>
            </a:r>
            <a:r>
              <a:rPr sz="1500" b="0">
                <a:solidFill>
                  <a:srgbClr val="000000"/>
                </a:solidFill>
                <a:latin typeface="Arial"/>
              </a:rPr>
              <a:t>сформулировать выводы о связи топонимов с возрастом, опытом города и сферой общения.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Ключевые понятия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Теоретическая база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2:00–2:45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4/10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109728" cy="182880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Урбаноним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Название внутригородского объекта: улицы, площади, моста, станции метро или района.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08760"/>
            <a:ext cx="109728" cy="182880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Активный топонимикон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Названия, которые человек спонтанно употребляет в речи и переписке.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109728" cy="182880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Пассивный топонимикон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Названия, которые человек узнаёт, но почти не использует самостоятельно.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94760"/>
            <a:ext cx="1083564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050791"/>
            <a:ext cx="9966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Научная опора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462272"/>
            <a:ext cx="9875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3AAA35"/>
                </a:solidFill>
                <a:latin typeface="Arial"/>
              </a:rPr>
              <a:t>■ </a:t>
            </a:r>
            <a:r>
              <a:rPr sz="1300" b="0">
                <a:solidFill>
                  <a:srgbClr val="000000"/>
                </a:solidFill>
                <a:latin typeface="Arial"/>
              </a:rPr>
              <a:t>А.В. Суперанская: имена собственные включены в общую систему языка и получают коннотации.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3AAA35"/>
                </a:solidFill>
                <a:latin typeface="Arial"/>
              </a:rPr>
              <a:t>■ </a:t>
            </a:r>
            <a:r>
              <a:rPr sz="1300" b="0">
                <a:solidFill>
                  <a:srgbClr val="000000"/>
                </a:solidFill>
                <a:latin typeface="Arial"/>
              </a:rPr>
              <a:t>Е.В. Иванцова: количество узнаваемых топонимов часто больше числа активно используемых.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3AAA35"/>
                </a:solidFill>
                <a:latin typeface="Arial"/>
              </a:rPr>
              <a:t>■ </a:t>
            </a:r>
            <a:r>
              <a:rPr sz="1300" b="0">
                <a:solidFill>
                  <a:srgbClr val="000000"/>
                </a:solidFill>
                <a:latin typeface="Arial"/>
              </a:rPr>
              <a:t>О.Н. Минюшова: топонимы могут быть логоэпистемами — носителями культурно-исторического знания.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Как собирались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Методика и материал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2:45–3:30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5/10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109728" cy="141732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Выборка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54 полные анкеты; доминируют респонденты 18–25 лет, в основном молодые жители и приезжие студенты.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08760"/>
            <a:ext cx="109728" cy="141732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Материал анкеты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12 топонимов: Эрмитаж, Невский, Купчино, Лиговка, Питер, Ленинград и др.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08760"/>
            <a:ext cx="109728" cy="141732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44128"/>
                </a:solidFill>
                <a:latin typeface="Arial"/>
              </a:rPr>
              <a:t>Формат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Множественный выбор сфер употребления для каждого названия.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29000"/>
            <a:ext cx="1078992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57600"/>
            <a:ext cx="4297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Контексты употребления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096512"/>
            <a:ext cx="4800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Arial"/>
              </a:rPr>
              <a:t>■ </a:t>
            </a:r>
            <a:r>
              <a:rPr sz="1400" b="0">
                <a:solidFill>
                  <a:srgbClr val="000000"/>
                </a:solidFill>
                <a:latin typeface="Arial"/>
              </a:rPr>
              <a:t>семья и близкие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Arial"/>
              </a:rPr>
              <a:t>■ </a:t>
            </a:r>
            <a:r>
              <a:rPr sz="1400" b="0">
                <a:solidFill>
                  <a:srgbClr val="000000"/>
                </a:solidFill>
                <a:latin typeface="Arial"/>
              </a:rPr>
              <a:t>друзья / приятели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Arial"/>
              </a:rPr>
              <a:t>■ </a:t>
            </a:r>
            <a:r>
              <a:rPr sz="1400" b="0">
                <a:solidFill>
                  <a:srgbClr val="000000"/>
                </a:solidFill>
                <a:latin typeface="Arial"/>
              </a:rPr>
              <a:t>работа или учёба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Arial"/>
              </a:rPr>
              <a:t>■ </a:t>
            </a:r>
            <a:r>
              <a:rPr sz="1400" b="0">
                <a:solidFill>
                  <a:srgbClr val="000000"/>
                </a:solidFill>
                <a:latin typeface="Arial"/>
              </a:rPr>
              <a:t>соцсети и мессенджеры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3AAA35"/>
                </a:solidFill>
                <a:latin typeface="Arial"/>
              </a:rPr>
              <a:t>■ </a:t>
            </a:r>
            <a:r>
              <a:rPr sz="1400" b="0">
                <a:solidFill>
                  <a:srgbClr val="000000"/>
                </a:solidFill>
                <a:latin typeface="Arial"/>
              </a:rPr>
              <a:t>пассивное знание / незнание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57600"/>
            <a:ext cx="4389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Ограничение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96512"/>
            <a:ext cx="4434840" cy="1051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Выводы не описывают всех петербуржцев, а прежде всего показывают речевую практику молодой городской аудитории.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806440"/>
            <a:ext cx="6583680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69480" y="5806440"/>
            <a:ext cx="4206240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N = 54 · проценты от числа респондентов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Результаты: активное ядро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3:30–4:30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6/10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64008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760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Самые активные названия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Питер · общение с друзьями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651760"/>
            <a:ext cx="4911059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251460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3AAA35"/>
                </a:solidFill>
                <a:latin typeface="Arial"/>
              </a:rPr>
              <a:t>92.6%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9864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ядро неформального городского лексикона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Невский · общение с друзьями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474720"/>
            <a:ext cx="4417832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333756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3AAA35"/>
                </a:solidFill>
                <a:latin typeface="Arial"/>
              </a:rPr>
              <a:t>83.3%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2160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универсальный центральный навигатор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Питер · соцсети и мессенджеры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97679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297679"/>
            <a:ext cx="4221601" cy="164592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4160519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56975B"/>
                </a:solidFill>
                <a:latin typeface="Arial"/>
              </a:rPr>
              <a:t>79.6%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44567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цифровая коммуникация закрепляет разговорную форму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0060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Невский · работа / учёба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12064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5120640"/>
            <a:ext cx="3341217" cy="164592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98348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56975B"/>
                </a:solidFill>
                <a:latin typeface="Arial"/>
              </a:rPr>
              <a:t>63%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6752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название проходит и через более формальные сферы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1508760"/>
            <a:ext cx="4160520" cy="438912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1810512"/>
            <a:ext cx="3429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Что важно проговорить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331720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«Питер» — не просто сокращение, а эмоционально нейтральное имя «своего» города.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«Невский» совмещает разговорность и официальную узнаваемость.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Активное ядро связано с ежедневными маршрутами и частой коммуникацией.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20" y="5577840"/>
            <a:ext cx="2834640" cy="164592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95560" y="5577840"/>
            <a:ext cx="1325880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Что знают, но не всегда используют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Результаты: пассив и различия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4:30–5:30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7/10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56235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074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Пассивный запас шире активного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Ленинград · «знаю, но не использую»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651760"/>
            <a:ext cx="2467782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51460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Arial"/>
              </a:rPr>
              <a:t>51.9%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9864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для молодёжи — исторический и поколенческий маркер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Рыбацкое · «знаю, но не использую»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474720"/>
            <a:ext cx="2111166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33756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Arial"/>
              </a:rPr>
              <a:t>44.4%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2160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название известно, но часто не включено в личный маршрут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Пять углов · пассивное знание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97679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297679"/>
            <a:ext cx="1055583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4160519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Arial"/>
              </a:rPr>
              <a:t>22.2%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44567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локальное название с низкой активностью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0060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Лиговка · незнание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12064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5120640"/>
            <a:ext cx="969995" cy="164592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498348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DB4928"/>
                </a:solidFill>
                <a:latin typeface="Arial"/>
              </a:rPr>
              <a:t>20.4%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6752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показывает зависимость от опыта района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1508760"/>
            <a:ext cx="4709160" cy="429768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1810512"/>
            <a:ext cx="397763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Интерпретация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331720"/>
            <a:ext cx="38404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Пассивное знание не равно незнанию: название может быть культурно знакомым, но не речевым.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Стаж проживания расширяет активный запас локальных названий.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39869"/>
                </a:solidFill>
                <a:latin typeface="Arial"/>
              </a:rPr>
              <a:t>■ </a:t>
            </a:r>
            <a:r>
              <a:rPr sz="1500" b="0">
                <a:solidFill>
                  <a:srgbClr val="FFFFFF"/>
                </a:solidFill>
                <a:latin typeface="Arial"/>
              </a:rPr>
              <a:t>У старших горожан «Ленинград» и районные названия чаще остаются живыми словами.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38928"/>
            <a:ext cx="384048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Главный вывод: топонимикон зависит от опыта города.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Итоги курсовой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5:30–6:20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8/10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3246120" cy="297180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508760"/>
            <a:ext cx="3246120" cy="297180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508760"/>
            <a:ext cx="3246120" cy="297180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Официальное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Дворцовая площадь, Эрмитаж, Исаакиевский собор: высокая узнаваемость и культурный слой.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Разговорное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Питер, Невский, Лиговка: повседневная навигация, друзья, соцсети, маршруты.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Историческое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Ленинград: знаком почти всем, но у молодых респондентов чаще находится в пассиве.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892040"/>
            <a:ext cx="101955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02352"/>
            <a:ext cx="1874519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44128"/>
                </a:solidFill>
                <a:latin typeface="Arial"/>
              </a:rPr>
              <a:t>Итог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047488"/>
            <a:ext cx="86410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Границы между активным и пассивным топонимиконом задаются не грамматикой, а возрастом, опытом города, кругом общения и цифровыми практиками.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144768"/>
            <a:ext cx="9144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>
                <a:solidFill>
                  <a:srgbClr val="5C675F"/>
                </a:solidFill>
                <a:latin typeface="Arial"/>
              </a:rPr>
              <a:t>Перспектива: расширить выборку, добавить старшее поколение и сравнить Петербург с другими миллионниками.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20040"/>
            <a:ext cx="62179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5C675F"/>
                </a:solidFill>
                <a:latin typeface="Arial"/>
              </a:rPr>
              <a:t>Основные работы, использованные в курсовой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30936"/>
            <a:ext cx="71323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44128"/>
                </a:solidFill>
                <a:latin typeface="Arial"/>
              </a:rPr>
              <a:t>Источники литературы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2004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6:20–6:45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5C675F"/>
                </a:solidFill>
                <a:latin typeface="Arial"/>
              </a:rPr>
              <a:t>9/10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10515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10512"/>
            <a:ext cx="9921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Агеева Р.А. Ономастический код культуры. М.: Наука, 1990.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Иванцова Е.В. Топонимия в идиолексиконе диалектоносителя // Вестник ЧелГУ. 2007. № 17.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Кузнецова А.В., Петрулевич И.А. Топонимика как инструмент конструирования городской идентичности // Социолингвистика. 2021. № 2.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Минюшова О.Н. Топонимы-логоэпистемы в русской ономастике. Казань, 2006.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Никонов В.А. Введение в топонимику. М.: Наука, 1965.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Суперанская А.В. Общая теория имён собственных. М.: Наука, 1973.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Зыкова И.В. Полевой принцип описания значения топонима // Вопросы лингвистики. 2022. № 4.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DB4928"/>
                </a:solidFill>
                <a:latin typeface="Arial"/>
              </a:rPr>
              <a:t>■ </a:t>
            </a:r>
            <a:r>
              <a:rPr sz="1200" b="0">
                <a:solidFill>
                  <a:srgbClr val="000000"/>
                </a:solidFill>
                <a:latin typeface="Arial"/>
              </a:rPr>
              <a:t>Анкета «Топонимы Санкт-Петербурга в лексиконе носителя русского языка»,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4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94760" cy="6858000"/>
          </a:xfrm>
          <a:prstGeom prst="rect">
            <a:avLst/>
          </a:prstGeom>
          <a:solidFill>
            <a:srgbClr val="3A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4760" y="0"/>
            <a:ext cx="1874519" cy="3429000"/>
          </a:xfrm>
          <a:prstGeom prst="rect">
            <a:avLst/>
          </a:prstGeom>
          <a:solidFill>
            <a:srgbClr val="56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94760" y="3429000"/>
            <a:ext cx="1874519" cy="3429000"/>
          </a:xfrm>
          <a:prstGeom prst="rect">
            <a:avLst/>
          </a:prstGeom>
          <a:solidFill>
            <a:srgbClr val="DB4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bstu_log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600200" cy="5520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2148840"/>
            <a:ext cx="484632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45262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Готов ответить на вопросы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074920"/>
            <a:ext cx="47548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>
                <a:solidFill>
                  <a:srgbClr val="DFEDDE"/>
                </a:solidFill>
                <a:latin typeface="Arial"/>
              </a:rPr>
              <a:t>Курсовая работа · Топонимы Санкт-Петербурга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355080"/>
            <a:ext cx="822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