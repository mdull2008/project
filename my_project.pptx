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244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1920240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1920240"/>
            <a:ext cx="3063240" cy="1097280"/>
          </a:xfrm>
          <a:prstGeom prst="rect">
            <a:avLst/>
          </a:prstGeom>
          <a:solidFill>
            <a:srgbClr val="56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61320" y="1920240"/>
            <a:ext cx="1627632" cy="1097280"/>
          </a:xfrm>
          <a:prstGeom prst="rect">
            <a:avLst/>
          </a:prstGeom>
          <a:solidFill>
            <a:srgbClr val="F39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3017520"/>
            <a:ext cx="2011680" cy="3840480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509760" y="3017520"/>
            <a:ext cx="2679192" cy="3840480"/>
          </a:xfrm>
          <a:prstGeom prst="rect">
            <a:avLst/>
          </a:prstGeom>
          <a:solidFill>
            <a:srgbClr val="244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bstu_logo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600200" cy="5520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1225296"/>
            <a:ext cx="6172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5C675F"/>
                </a:solidFill>
                <a:latin typeface="Onest"/>
              </a:rPr>
              <a:t>Курсовая работа · выступление 5–7 минут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37360"/>
            <a:ext cx="6629400" cy="1508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244128"/>
                </a:solidFill>
                <a:latin typeface="Onest"/>
              </a:rPr>
              <a:t>Топонимы Санкт-Петербурга</a:t>
            </a:r>
            <a:br/>
            <a:r>
              <a:t>в лексиконе носителя русского языка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566160"/>
            <a:ext cx="621792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Onest"/>
              </a:rPr>
              <a:t>Как официальные, разговорные и исторические названия распределяются между активным и пассивным запасом речи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852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5C675F"/>
                </a:solidFill>
                <a:latin typeface="Onest"/>
              </a:rPr>
              <a:t>Гуманитарный институт · Высшая школа лингвистики и педагогики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5C675F"/>
                </a:solidFill>
                <a:latin typeface="Onest"/>
              </a:rPr>
              <a:t>Выполнил: К.А. Шин · Руководитель: В.А. Белов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5C675F"/>
                </a:solidFill>
                <a:latin typeface="Onest"/>
              </a:rPr>
              <a:t>Санкт-Петербург,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355080"/>
            <a:ext cx="8229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Onest"/>
              </a:rPr>
              <a:t>1/4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bstu_logo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600200" cy="55206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20040"/>
            <a:ext cx="621792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Onest"/>
              </a:rPr>
              <a:t>Тема, материал и методика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630936"/>
            <a:ext cx="71323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44128"/>
                </a:solidFill>
                <a:latin typeface="Onest"/>
              </a:rPr>
              <a:t>Исследовательская рамка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2004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Onest"/>
              </a:rPr>
              <a:t>1:00–2:30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Onest"/>
              </a:rPr>
              <a:t>2/4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600200"/>
            <a:ext cx="33832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600200"/>
            <a:ext cx="109728" cy="1417320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2971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44128"/>
                </a:solidFill>
                <a:latin typeface="Onest"/>
              </a:rPr>
              <a:t>Цель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258568"/>
            <a:ext cx="297180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Onest"/>
              </a:rPr>
              <a:t>Описать, как петербургские топонимы представлены в лексиконе современных носителей русского языка.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600200"/>
            <a:ext cx="33832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600200"/>
            <a:ext cx="109728" cy="1417320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810512"/>
            <a:ext cx="2971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44128"/>
                </a:solidFill>
                <a:latin typeface="Onest"/>
              </a:rPr>
              <a:t>Гипотеза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258568"/>
            <a:ext cx="297180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Onest"/>
              </a:rPr>
              <a:t>Официальные, разговорные и исторические названия работают в разных функциональных зонах.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600200"/>
            <a:ext cx="33832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600200"/>
            <a:ext cx="109728" cy="1417320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2" y="1810512"/>
            <a:ext cx="2971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44128"/>
                </a:solidFill>
                <a:latin typeface="Onest"/>
              </a:rPr>
              <a:t>Материал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2258568"/>
            <a:ext cx="297180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Onest"/>
              </a:rPr>
              <a:t>Онлайн-анкета Google Forms: 54 полных ответа, 12 топонимов, множественный выбор контекстов.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520440"/>
            <a:ext cx="107899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749039"/>
            <a:ext cx="42976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44128"/>
                </a:solidFill>
                <a:latin typeface="Onest"/>
              </a:rPr>
              <a:t>Как фиксировалось употребление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187952"/>
            <a:ext cx="4800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3AAA35"/>
                </a:solidFill>
                <a:latin typeface="Onest"/>
              </a:rPr>
              <a:t>■ </a:t>
            </a:r>
            <a:r>
              <a:rPr sz="1400" b="0">
                <a:solidFill>
                  <a:srgbClr val="000000"/>
                </a:solidFill>
                <a:latin typeface="Onest"/>
              </a:rPr>
              <a:t>семья и близкие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3AAA35"/>
                </a:solidFill>
                <a:latin typeface="Onest"/>
              </a:rPr>
              <a:t>■ </a:t>
            </a:r>
            <a:r>
              <a:rPr sz="1400" b="0">
                <a:solidFill>
                  <a:srgbClr val="000000"/>
                </a:solidFill>
                <a:latin typeface="Onest"/>
              </a:rPr>
              <a:t>друзья / приятели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3AAA35"/>
                </a:solidFill>
                <a:latin typeface="Onest"/>
              </a:rPr>
              <a:t>■ </a:t>
            </a:r>
            <a:r>
              <a:rPr sz="1400" b="0">
                <a:solidFill>
                  <a:srgbClr val="000000"/>
                </a:solidFill>
                <a:latin typeface="Onest"/>
              </a:rPr>
              <a:t>работа или учёба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3AAA35"/>
                </a:solidFill>
                <a:latin typeface="Onest"/>
              </a:rPr>
              <a:t>■ </a:t>
            </a:r>
            <a:r>
              <a:rPr sz="1400" b="0">
                <a:solidFill>
                  <a:srgbClr val="000000"/>
                </a:solidFill>
                <a:latin typeface="Onest"/>
              </a:rPr>
              <a:t>соцсети и мессенджеры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3AAA35"/>
                </a:solidFill>
                <a:latin typeface="Onest"/>
              </a:rPr>
              <a:t>■ </a:t>
            </a:r>
            <a:r>
              <a:rPr sz="1400" b="0">
                <a:solidFill>
                  <a:srgbClr val="000000"/>
                </a:solidFill>
                <a:latin typeface="Onest"/>
              </a:rPr>
              <a:t>пассивное знание / незнание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30752"/>
            <a:ext cx="4389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44128"/>
                </a:solidFill>
                <a:latin typeface="Onest"/>
              </a:rPr>
              <a:t>Фокус интерпретации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87952"/>
            <a:ext cx="4434840" cy="1051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Onest"/>
              </a:rPr>
              <a:t>Выборка в основном отражает речевую практику молодых городских носителей и приезжих студентов, поэтому результаты читаются как модель молодежного топонимикона.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5989320"/>
            <a:ext cx="6583680" cy="164592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69480" y="5989320"/>
            <a:ext cx="4206240" cy="164592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bstu_logo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600200" cy="55206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20040"/>
            <a:ext cx="621792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Onest"/>
              </a:rPr>
              <a:t>N = 54 · проценты от числа респондентов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630936"/>
            <a:ext cx="71323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44128"/>
                </a:solidFill>
                <a:latin typeface="Onest"/>
              </a:rPr>
              <a:t>Ключевые результаты анкетирования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2004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Onest"/>
              </a:rPr>
              <a:t>2:30–5:00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Onest"/>
              </a:rPr>
              <a:t>3/4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508760"/>
            <a:ext cx="640080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5760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44128"/>
                </a:solidFill>
                <a:latin typeface="Onest"/>
              </a:rPr>
              <a:t>Активность и пассивность топонимов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53035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Onest"/>
              </a:rPr>
              <a:t>Питер · общение с друзьями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651760"/>
            <a:ext cx="530352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2651760"/>
            <a:ext cx="4911059" cy="164592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2514600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3AAA35"/>
                </a:solidFill>
                <a:latin typeface="Onest"/>
              </a:rPr>
              <a:t>92.6%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898648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Onest"/>
              </a:rPr>
              <a:t>ядро неформального городского лексикона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54680"/>
            <a:ext cx="53035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Onest"/>
              </a:rPr>
              <a:t>Невский · общение с друзьями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474720"/>
            <a:ext cx="530352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474720"/>
            <a:ext cx="4417832" cy="164592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32120" y="3337560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3AAA35"/>
                </a:solidFill>
                <a:latin typeface="Onest"/>
              </a:rPr>
              <a:t>83.3%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21608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Onest"/>
              </a:rPr>
              <a:t>универсальный центральный навигатор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77639"/>
            <a:ext cx="53035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Onest"/>
              </a:rPr>
              <a:t>Ленинград · «знаю, но не использую»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297679"/>
            <a:ext cx="530352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297679"/>
            <a:ext cx="2752526" cy="164592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32120" y="4160519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DB4928"/>
                </a:solidFill>
                <a:latin typeface="Onest"/>
              </a:rPr>
              <a:t>51.9%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44567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Onest"/>
              </a:rPr>
              <a:t>историческое название у молодёжи уходит в пассив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800600"/>
            <a:ext cx="53035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Onest"/>
              </a:rPr>
              <a:t>Рыбацкое · «знаю, но не использую»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120640"/>
            <a:ext cx="530352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" y="5120640"/>
            <a:ext cx="2354762" cy="164592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4983480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DB4928"/>
                </a:solidFill>
                <a:latin typeface="Onest"/>
              </a:rPr>
              <a:t>44.4%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367528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Onest"/>
              </a:rPr>
              <a:t>локальная периферия без личного маршрута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60920" y="1508760"/>
            <a:ext cx="4160520" cy="4389120"/>
          </a:xfrm>
          <a:prstGeom prst="rect">
            <a:avLst/>
          </a:prstGeom>
          <a:solidFill>
            <a:srgbClr val="244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79" y="1810512"/>
            <a:ext cx="3429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Onest"/>
              </a:rPr>
              <a:t>Что важно проговорить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2331720"/>
            <a:ext cx="3429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F39869"/>
                </a:solidFill>
                <a:latin typeface="Onest"/>
              </a:rPr>
              <a:t>■ </a:t>
            </a:r>
            <a:r>
              <a:rPr sz="1500" b="0">
                <a:solidFill>
                  <a:srgbClr val="FFFFFF"/>
                </a:solidFill>
                <a:latin typeface="Onest"/>
              </a:rPr>
              <a:t>«Питер» и «Невский» проходят через почти все сферы общения.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F39869"/>
                </a:solidFill>
                <a:latin typeface="Onest"/>
              </a:rPr>
              <a:t>■ </a:t>
            </a:r>
            <a:r>
              <a:rPr sz="1500" b="0">
                <a:solidFill>
                  <a:srgbClr val="FFFFFF"/>
                </a:solidFill>
                <a:latin typeface="Onest"/>
              </a:rPr>
              <a:t>Культурные символы известны, но не всегда нужны в ежедневной навигации.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F39869"/>
                </a:solidFill>
                <a:latin typeface="Onest"/>
              </a:rPr>
              <a:t>■ </a:t>
            </a:r>
            <a:r>
              <a:rPr sz="1500" b="0">
                <a:solidFill>
                  <a:srgbClr val="FFFFFF"/>
                </a:solidFill>
                <a:latin typeface="Onest"/>
              </a:rPr>
              <a:t>Разговорные и районные названия зависят от маршрутов, возраста и круга общения.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60920" y="5577840"/>
            <a:ext cx="2834640" cy="164592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195560" y="5577840"/>
            <a:ext cx="1325880" cy="164592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bstu_logo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600200" cy="55206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20040"/>
            <a:ext cx="621792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Onest"/>
              </a:rPr>
              <a:t>Итоговая модель и перспективы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630936"/>
            <a:ext cx="71323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44128"/>
                </a:solidFill>
                <a:latin typeface="Onest"/>
              </a:rPr>
              <a:t>Вывод: лексикон горожанина многослоен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2004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Onest"/>
              </a:rPr>
              <a:t>5:00–7:00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Onest"/>
              </a:rPr>
              <a:t>4/4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536192"/>
            <a:ext cx="3291840" cy="3246120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60520" y="1536192"/>
            <a:ext cx="3291840" cy="3246120"/>
          </a:xfrm>
          <a:prstGeom prst="rect">
            <a:avLst/>
          </a:prstGeom>
          <a:solidFill>
            <a:srgbClr val="56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35240" y="1536192"/>
            <a:ext cx="3291840" cy="3246120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828800"/>
            <a:ext cx="2743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Onest"/>
              </a:rPr>
              <a:t>1. Официальное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95728"/>
            <a:ext cx="2743200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Onest"/>
              </a:rPr>
              <a:t>Дворцовая площадь, Эрмитаж, Исаакиевский собор: высокая узнаваемость и культурный слой.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828800"/>
            <a:ext cx="2743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Onest"/>
              </a:rPr>
              <a:t>2. Разговорное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95728"/>
            <a:ext cx="2743200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Onest"/>
              </a:rPr>
              <a:t>Питер, Невский, Лиговка: активная навигация, друзья, соцсети, повседневные маршруты.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1828800"/>
            <a:ext cx="2743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Onest"/>
              </a:rPr>
              <a:t>3. Историческое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395728"/>
            <a:ext cx="2743200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Onest"/>
              </a:rPr>
              <a:t>Ленинград: почти всем знаком, но у молодых респондентов чаще находится в пассиве.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166360"/>
            <a:ext cx="1024128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385816"/>
            <a:ext cx="96469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1">
                <a:solidFill>
                  <a:srgbClr val="244128"/>
                </a:solidFill>
                <a:latin typeface="Onest"/>
              </a:rPr>
              <a:t>Защитный тезис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5376672"/>
            <a:ext cx="7818120" cy="42062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Onest"/>
              </a:rPr>
              <a:t>Границы между активным и пассивным топонимиконом задаются не грамматикой, а возрастом, опытом города, кругом общения и цифровыми практиками.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6199632"/>
            <a:ext cx="9144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>
                <a:solidFill>
                  <a:srgbClr val="5C675F"/>
                </a:solidFill>
                <a:latin typeface="Onest"/>
              </a:rPr>
              <a:t>Дальше: расширить выборку, добавить старшее поколение и сравнить Петербург с другими миллионниками.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