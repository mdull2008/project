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2834640" cy="109728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32520" y="914400"/>
            <a:ext cx="2377440" cy="2377440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60520"/>
            <a:ext cx="1463040" cy="146304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6172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626262"/>
                </a:solidFill>
                <a:latin typeface="Arial"/>
              </a:rPr>
              <a:t>Курсовая работа · выступление 5–7 минут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64208"/>
            <a:ext cx="7360920" cy="1508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>
                <a:solidFill>
                  <a:srgbClr val="2D5644"/>
                </a:solidFill>
                <a:latin typeface="Arial"/>
              </a:rPr>
              <a:t>Топонимы Санкт-Петербурга</a:t>
            </a:r>
            <a:br/>
            <a:r>
              <a:t>в лексиконе носителя русского языка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690372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Как официальные, разговорные и исторические названия распределяются между активным и пассивным запасом речи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26262"/>
                </a:solidFill>
                <a:latin typeface="Arial"/>
              </a:rPr>
              <a:t>Гуманитарный институт · Высшая школа лингвистики и педагогики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26262"/>
                </a:solidFill>
                <a:latin typeface="Arial"/>
              </a:rPr>
              <a:t>Выполнил: К.А. Шин · Руководитель: В.А. Белов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26262"/>
                </a:solidFill>
                <a:latin typeface="Arial"/>
              </a:rPr>
              <a:t>Санкт-Петербург,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355080"/>
            <a:ext cx="822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Актуальность и объект исследования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Введение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0:30–1:15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2/10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6537960" cy="434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83080"/>
            <a:ext cx="5760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2D5644"/>
                </a:solidFill>
                <a:latin typeface="Arial"/>
              </a:rPr>
              <a:t>Почему тема важна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5715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60A678"/>
                </a:solidFill>
                <a:latin typeface="Arial"/>
              </a:rPr>
              <a:t>• </a:t>
            </a:r>
            <a:r>
              <a:rPr sz="1700" b="0">
                <a:solidFill>
                  <a:srgbClr val="000000"/>
                </a:solidFill>
                <a:latin typeface="Arial"/>
              </a:rPr>
              <a:t>Санкт-Петербург воспринимается через сеть городских названий: улиц, площадей, районов, станций метро.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60A678"/>
                </a:solidFill>
                <a:latin typeface="Arial"/>
              </a:rPr>
              <a:t>• </a:t>
            </a:r>
            <a:r>
              <a:rPr sz="1700" b="0">
                <a:solidFill>
                  <a:srgbClr val="000000"/>
                </a:solidFill>
                <a:latin typeface="Arial"/>
              </a:rPr>
              <a:t>Один объект может иметь официальное, разговорное и историческое имя.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60A678"/>
                </a:solidFill>
                <a:latin typeface="Arial"/>
              </a:rPr>
              <a:t>• </a:t>
            </a:r>
            <a:r>
              <a:rPr sz="1700" b="0">
                <a:solidFill>
                  <a:srgbClr val="000000"/>
                </a:solidFill>
                <a:latin typeface="Arial"/>
              </a:rPr>
              <a:t>Для лингвистики важно понять, какие названия реально живут в речи, а какие остаются культурной отсылкой.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166360"/>
            <a:ext cx="5806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>
                <a:solidFill>
                  <a:srgbClr val="E6915F"/>
                </a:solidFill>
                <a:latin typeface="Arial"/>
              </a:rPr>
              <a:t>Проблемный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468112"/>
            <a:ext cx="5806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Почему одни говорят «Питер» и «Лиговка», а другие — «Санкт-Петербург» и «Лиговский проспект»?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1508760"/>
            <a:ext cx="3886200" cy="434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43800" y="1508760"/>
            <a:ext cx="3886200" cy="128016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828800"/>
            <a:ext cx="31546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Объект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240280"/>
            <a:ext cx="3154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топонимическая лексика в речи носителей русского языка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3246120"/>
            <a:ext cx="3063240" cy="27432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9560" y="3566160"/>
            <a:ext cx="31546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977639"/>
            <a:ext cx="31546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включение петербургских топонимов в активный и пассивный компоненты лексикона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Логика исследования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Цель, задачи и гипотеза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1:15–2:00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3/10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4892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109728" cy="1051560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719072"/>
            <a:ext cx="44805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Цель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4480560" cy="2651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Описать, как петербургские топонимы представлены в лексиконе современных носителей русского языка.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508760"/>
            <a:ext cx="4892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7880" y="1508760"/>
            <a:ext cx="109728" cy="1051560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3912" y="1719072"/>
            <a:ext cx="44805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Гипотеза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2167128"/>
            <a:ext cx="4480560" cy="2651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Топонимы Санкт-Петербурга образуют многослойную систему: официальные, разговорные и исторические названия распределены по разным сферам общения.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71800"/>
            <a:ext cx="101041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246120"/>
            <a:ext cx="9418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900" b="1">
                <a:solidFill>
                  <a:srgbClr val="2D5644"/>
                </a:solidFill>
                <a:latin typeface="Arial"/>
              </a:rPr>
              <a:t>Основные задачи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703320"/>
            <a:ext cx="9235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60A678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рассмотреть подходы к изучению топонимов в отечественной лингвистике;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60A678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обосновать методику эмпирического исследования;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60A678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провести анкетирование и интерпретировать полученные данные;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60A678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сформулировать выводы о связи топонимов с возрастом, опытом города и сферой общения.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Ключевые понятия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Теоретическая база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2:00–2:45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4/10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3375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109728" cy="1828800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719072"/>
            <a:ext cx="2926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Урбаноним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926080" cy="10424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Название внутригородского объекта: улицы, площади, моста, станции метро или района.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508760"/>
            <a:ext cx="33375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109728" cy="1828800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1719072"/>
            <a:ext cx="2926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Активный топонимикон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167128"/>
            <a:ext cx="2926080" cy="10424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Названия, которые человек спонтанно употребляет в речи и переписке.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508760"/>
            <a:ext cx="33375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508760"/>
            <a:ext cx="109728" cy="1828800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1" y="1719072"/>
            <a:ext cx="2926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Пассивный топонимикон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1" y="2167128"/>
            <a:ext cx="2926080" cy="10424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Названия, которые человек узнаёт, но почти не использует самостоятельно.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794760"/>
            <a:ext cx="1083564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050791"/>
            <a:ext cx="99669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Научная 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462272"/>
            <a:ext cx="9875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60A678"/>
                </a:solidFill>
                <a:latin typeface="Arial"/>
              </a:rPr>
              <a:t>• </a:t>
            </a:r>
            <a:r>
              <a:rPr sz="1300" b="0">
                <a:solidFill>
                  <a:srgbClr val="000000"/>
                </a:solidFill>
                <a:latin typeface="Arial"/>
              </a:rPr>
              <a:t>А.В. Суперанская: имена собственные включены в общую систему языка и получают коннотации.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60A678"/>
                </a:solidFill>
                <a:latin typeface="Arial"/>
              </a:rPr>
              <a:t>• </a:t>
            </a:r>
            <a:r>
              <a:rPr sz="1300" b="0">
                <a:solidFill>
                  <a:srgbClr val="000000"/>
                </a:solidFill>
                <a:latin typeface="Arial"/>
              </a:rPr>
              <a:t>Е.В. Иванцова: количество узнаваемых топонимов часто больше числа активно используемых.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60A678"/>
                </a:solidFill>
                <a:latin typeface="Arial"/>
              </a:rPr>
              <a:t>• </a:t>
            </a:r>
            <a:r>
              <a:rPr sz="1300" b="0">
                <a:solidFill>
                  <a:srgbClr val="000000"/>
                </a:solidFill>
                <a:latin typeface="Arial"/>
              </a:rPr>
              <a:t>О.Н. Минюшова: топонимы могут быть логоэпистемами — носителями культурно-исторического знания.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Как собирались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Методика и материал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2:45–3:30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5/10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109728" cy="1417320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71907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Выборка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54 полные анкеты; доминируют респонденты 18–25 лет, в основном молодые жители и приезжие студенты.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508760"/>
            <a:ext cx="109728" cy="1417320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71907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Материал анкеты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16712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12 топонимов: Эрмитаж, Невский, Купчино, Лиговка, Питер, Ленинград и др.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508760"/>
            <a:ext cx="33832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508760"/>
            <a:ext cx="109728" cy="1417320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1719072"/>
            <a:ext cx="2971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Формат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167128"/>
            <a:ext cx="29718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</a:rPr>
              <a:t>Множественный выбор сфер употребления для каждого названия.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429000"/>
            <a:ext cx="1078992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657600"/>
            <a:ext cx="42976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Контексты употребления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096512"/>
            <a:ext cx="4800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60A678"/>
                </a:solidFill>
                <a:latin typeface="Arial"/>
              </a:rPr>
              <a:t>• </a:t>
            </a:r>
            <a:r>
              <a:rPr sz="1400" b="0">
                <a:solidFill>
                  <a:srgbClr val="000000"/>
                </a:solidFill>
                <a:latin typeface="Arial"/>
              </a:rPr>
              <a:t>семья и близкие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60A678"/>
                </a:solidFill>
                <a:latin typeface="Arial"/>
              </a:rPr>
              <a:t>• </a:t>
            </a:r>
            <a:r>
              <a:rPr sz="1400" b="0">
                <a:solidFill>
                  <a:srgbClr val="000000"/>
                </a:solidFill>
                <a:latin typeface="Arial"/>
              </a:rPr>
              <a:t>друзья / приятели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60A678"/>
                </a:solidFill>
                <a:latin typeface="Arial"/>
              </a:rPr>
              <a:t>• </a:t>
            </a:r>
            <a:r>
              <a:rPr sz="1400" b="0">
                <a:solidFill>
                  <a:srgbClr val="000000"/>
                </a:solidFill>
                <a:latin typeface="Arial"/>
              </a:rPr>
              <a:t>работа или учёба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60A678"/>
                </a:solidFill>
                <a:latin typeface="Arial"/>
              </a:rPr>
              <a:t>• </a:t>
            </a:r>
            <a:r>
              <a:rPr sz="1400" b="0">
                <a:solidFill>
                  <a:srgbClr val="000000"/>
                </a:solidFill>
                <a:latin typeface="Arial"/>
              </a:rPr>
              <a:t>соцсети и мессенджеры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60A678"/>
                </a:solidFill>
                <a:latin typeface="Arial"/>
              </a:rPr>
              <a:t>• </a:t>
            </a:r>
            <a:r>
              <a:rPr sz="1400" b="0">
                <a:solidFill>
                  <a:srgbClr val="000000"/>
                </a:solidFill>
                <a:latin typeface="Arial"/>
              </a:rPr>
              <a:t>пассивное знание / незнание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4389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Ограничение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096512"/>
            <a:ext cx="4434840" cy="1051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Выводы не описывают всех петербуржцев, а прежде всего показывают речевую практику молодой городской аудитории.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806440"/>
            <a:ext cx="6583680" cy="164592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69480" y="5806440"/>
            <a:ext cx="4206240" cy="164592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N = 54 · проценты от числа респондентов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Результаты: активное ядро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3:30–4:30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6/10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508760"/>
            <a:ext cx="64008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760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Самые активные названия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Питер · общение с друзьями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65176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2651760"/>
            <a:ext cx="4911059" cy="164592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251460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60A678"/>
                </a:solidFill>
                <a:latin typeface="Arial"/>
              </a:rPr>
              <a:t>92.6%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864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ядро неформального городского лексикона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15468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Невский · общение с друзьями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47472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474720"/>
            <a:ext cx="4417832" cy="164592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333756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60A678"/>
                </a:solidFill>
                <a:latin typeface="Arial"/>
              </a:rPr>
              <a:t>83.3%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2160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универсальный центральный навигатор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77639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Питер · соцсети и мессенджеры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97679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97679"/>
            <a:ext cx="4221601" cy="164592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4160519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BEDEC7"/>
                </a:solidFill>
                <a:latin typeface="Arial"/>
              </a:rPr>
              <a:t>79.6%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44567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цифровая коммуникация закрепляет разговорную форму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80060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Невский · работа / учёба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120640"/>
            <a:ext cx="530352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120640"/>
            <a:ext cx="3341217" cy="164592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498348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BEDEC7"/>
                </a:solidFill>
                <a:latin typeface="Arial"/>
              </a:rPr>
              <a:t>63%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8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название проходит и через более формальные сферы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1508760"/>
            <a:ext cx="416052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60920" y="1508760"/>
            <a:ext cx="4160520" cy="128016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1810512"/>
            <a:ext cx="3429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Что важно проговорить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2331720"/>
            <a:ext cx="3429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E6915F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«Питер» — не просто сокращение, а эмоционально нейтральное имя «своего» города.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E6915F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«Невский» совмещает разговорность и официальную узнаваемость.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E6915F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Активное ядро связано с ежедневными маршрутами и частой коммуникацией.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20" y="5577840"/>
            <a:ext cx="4160520" cy="73152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Что знают, но не всегда используют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Результаты: пассив и различия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4:30–5:30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7/10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508760"/>
            <a:ext cx="56235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074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Пассивный запас шире активного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Ленинград · «знаю, но не использую»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651760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2651760"/>
            <a:ext cx="2467782" cy="164592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251460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E6915F"/>
                </a:solidFill>
                <a:latin typeface="Arial"/>
              </a:rPr>
              <a:t>51.9%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8648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для молодёжи — исторический и поколенческий маркер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15468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Рыбацкое · «знаю, но не использую»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474720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474720"/>
            <a:ext cx="2111166" cy="164592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333756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E6915F"/>
                </a:solidFill>
                <a:latin typeface="Arial"/>
              </a:rPr>
              <a:t>44.4%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21608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название известно, но часто не включено в личный маршрут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77639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Пять углов · пассивное знание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97679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97679"/>
            <a:ext cx="1055583" cy="164592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160519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E6915F"/>
                </a:solidFill>
                <a:latin typeface="Arial"/>
              </a:rPr>
              <a:t>22.2%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44567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локальное название с низкой активностью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80060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Лиговка · незнание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120640"/>
            <a:ext cx="4754880" cy="164592"/>
          </a:xfrm>
          <a:prstGeom prst="rect">
            <a:avLst/>
          </a:prstGeom>
          <a:solidFill>
            <a:srgbClr val="DA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120640"/>
            <a:ext cx="969995" cy="164592"/>
          </a:xfrm>
          <a:prstGeom prst="rect">
            <a:avLst/>
          </a:prstGeom>
          <a:solidFill>
            <a:srgbClr val="E6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80" y="4983480"/>
            <a:ext cx="685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300" b="1">
                <a:solidFill>
                  <a:srgbClr val="E6915F"/>
                </a:solidFill>
                <a:latin typeface="Arial"/>
              </a:rPr>
              <a:t>20.4%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8"/>
            <a:ext cx="47548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показывает зависимость от опыта района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0" y="1508760"/>
            <a:ext cx="47091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29400" y="1508760"/>
            <a:ext cx="4709160" cy="128016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1810512"/>
            <a:ext cx="397763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Интерпретация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331720"/>
            <a:ext cx="38404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E6915F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Пассивное знание не равно незнанию: название может быть культурно знакомым, но не речевым.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E6915F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Стаж проживания расширяет активный запас локальных названий.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E6915F"/>
                </a:solidFill>
                <a:latin typeface="Arial"/>
              </a:rPr>
              <a:t>• </a:t>
            </a:r>
            <a:r>
              <a:rPr sz="1500" b="0">
                <a:solidFill>
                  <a:srgbClr val="000000"/>
                </a:solidFill>
                <a:latin typeface="Arial"/>
              </a:rPr>
              <a:t>У старших горожан «Ленинград» и районные названия чаще остаются живыми словами.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138928"/>
            <a:ext cx="384048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2D5644"/>
                </a:solidFill>
                <a:latin typeface="Arial"/>
              </a:rPr>
              <a:t>Главный вывод: топонимикон зависит от опыта города.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Итоги курсовой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5:30–6:20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8/10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246120" cy="297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508760"/>
            <a:ext cx="3246120" cy="297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508760"/>
            <a:ext cx="3246120" cy="297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508760"/>
            <a:ext cx="3246120" cy="128016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508760"/>
            <a:ext cx="3246120" cy="128016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508760"/>
            <a:ext cx="3246120" cy="128016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828800"/>
            <a:ext cx="26974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2D5644"/>
                </a:solidFill>
                <a:latin typeface="Arial"/>
              </a:rPr>
              <a:t>Официальное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395728"/>
            <a:ext cx="2697480" cy="1417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Дворцовая площадь, Эрмитаж, Исаакиевский собор: высокая узнаваемость и культурный слой.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828800"/>
            <a:ext cx="26974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2D5644"/>
                </a:solidFill>
                <a:latin typeface="Arial"/>
              </a:rPr>
              <a:t>Разговорное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395728"/>
            <a:ext cx="2697480" cy="1417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Питер, Невский, Лиговка: повседневная навигация, друзья, соцсети, маршруты.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828800"/>
            <a:ext cx="26974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>
                <a:solidFill>
                  <a:srgbClr val="2D5644"/>
                </a:solidFill>
                <a:latin typeface="Arial"/>
              </a:rPr>
              <a:t>Историческое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95728"/>
            <a:ext cx="2697480" cy="1417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Ленинград: знаком почти всем, но у молодых респондентов чаще находится в пассиве.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892040"/>
            <a:ext cx="1019556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102352"/>
            <a:ext cx="1874519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2D5644"/>
                </a:solidFill>
                <a:latin typeface="Arial"/>
              </a:rPr>
              <a:t>Итог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047488"/>
            <a:ext cx="86410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Границы между активным и пассивным топонимиконом задаются не грамматикой, а возрастом, опытом города, кругом общения и цифровыми практиками.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144768"/>
            <a:ext cx="9144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>
                <a:solidFill>
                  <a:srgbClr val="626262"/>
                </a:solidFill>
                <a:latin typeface="Arial"/>
              </a:rPr>
              <a:t>Перспектива: расширить выборку, добавить старшее поколение и сравнить Петербург с другими миллионниками.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694944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>
                <a:solidFill>
                  <a:srgbClr val="626262"/>
                </a:solidFill>
                <a:latin typeface="Arial"/>
              </a:rPr>
              <a:t>Основные работы, использованные в курсовой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0936"/>
            <a:ext cx="8001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>
                <a:solidFill>
                  <a:srgbClr val="2D5644"/>
                </a:solidFill>
                <a:latin typeface="Arial"/>
              </a:rPr>
              <a:t>Источники литературы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70432"/>
            <a:ext cx="10515600" cy="2286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411480"/>
            <a:ext cx="219456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6:20–6:45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55080"/>
            <a:ext cx="6400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9/10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10515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10512"/>
            <a:ext cx="9921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Агеева Р.А. Ономастический код культуры. М.: Наука, 1990.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Иванцова Е.В. Топонимия в идиолексиконе диалектоносителя // Вестник ЧелГУ. 2007. № 17.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Кузнецова А.В., Петрулевич И.А. Топонимика как инструмент конструирования городской идентичности // Социолингвистика. 2021. № 2.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Минюшова О.Н. Топонимы-логоэпистемы в русской ономастике. Казань, 2006.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Никонов В.А. Введение в топонимику. М.: Наука, 1965.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Суперанская А.В. Общая теория имён собственных. М.: Наука, 1973.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Зыкова И.В. Полевой принцип описания значения топонима // Вопросы лингвистики. 2022. № 4.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E6915F"/>
                </a:solidFill>
                <a:latin typeface="Arial"/>
              </a:rPr>
              <a:t>• </a:t>
            </a:r>
            <a:r>
              <a:rPr sz="1200" b="0">
                <a:solidFill>
                  <a:srgbClr val="000000"/>
                </a:solidFill>
                <a:latin typeface="Arial"/>
              </a:rPr>
              <a:t>Анкета «Топонимы Санкт-Петербурга в лексиконе носителя русского языка»,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2834640" cy="109728"/>
          </a:xfrm>
          <a:prstGeom prst="rect">
            <a:avLst/>
          </a:prstGeom>
          <a:solidFill>
            <a:srgbClr val="60A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41080" y="1051560"/>
            <a:ext cx="1920240" cy="1920240"/>
          </a:xfrm>
          <a:prstGeom prst="rect">
            <a:avLst/>
          </a:prstGeom>
          <a:solidFill>
            <a:srgbClr val="BED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46920" y="4023360"/>
            <a:ext cx="1417320" cy="1417320"/>
          </a:xfrm>
          <a:prstGeom prst="rect">
            <a:avLst/>
          </a:prstGeom>
          <a:solidFill>
            <a:srgbClr val="F8D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768096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800" b="1">
                <a:solidFill>
                  <a:srgbClr val="2D5644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65836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>
                <a:solidFill>
                  <a:srgbClr val="000000"/>
                </a:solidFill>
                <a:latin typeface="Arial"/>
              </a:rPr>
              <a:t>Готов ответить на вопросы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74920"/>
            <a:ext cx="67665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>
                <a:solidFill>
                  <a:srgbClr val="626262"/>
                </a:solidFill>
                <a:latin typeface="Arial"/>
              </a:rPr>
              <a:t>Курсовая работа · Топонимы Санкт-Петербурга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355080"/>
            <a:ext cx="822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>
                <a:solidFill>
                  <a:srgbClr val="626262"/>
                </a:solidFill>
                <a:latin typeface="Arial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